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Poppins"/>
      <p:regular r:id="rId18"/>
      <p:bold r:id="rId19"/>
      <p:italic r:id="rId20"/>
      <p:boldItalic r:id="rId21"/>
    </p:embeddedFont>
    <p:embeddedFont>
      <p:font typeface="Inter"/>
      <p:regular r:id="rId22"/>
      <p:bold r:id="rId23"/>
      <p:italic r:id="rId24"/>
      <p:boldItalic r:id="rId25"/>
    </p:embeddedFont>
    <p:embeddedFont>
      <p:font typeface="Inter Medium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22" Type="http://schemas.openxmlformats.org/officeDocument/2006/relationships/font" Target="fonts/Inter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Inter-italic.fntdata"/><Relationship Id="rId23" Type="http://schemas.openxmlformats.org/officeDocument/2006/relationships/font" Target="fonts/Inter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Medium-regular.fntdata"/><Relationship Id="rId25" Type="http://schemas.openxmlformats.org/officeDocument/2006/relationships/font" Target="fonts/Inter-boldItalic.fntdata"/><Relationship Id="rId28" Type="http://schemas.openxmlformats.org/officeDocument/2006/relationships/font" Target="fonts/InterMedium-italic.fntdata"/><Relationship Id="rId27" Type="http://schemas.openxmlformats.org/officeDocument/2006/relationships/font" Target="fonts/Inter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Medium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9" Type="http://schemas.openxmlformats.org/officeDocument/2006/relationships/image" Target="../media/image2.png"/><Relationship Id="rId5" Type="http://schemas.openxmlformats.org/officeDocument/2006/relationships/image" Target="../media/image16.png"/><Relationship Id="rId6" Type="http://schemas.openxmlformats.org/officeDocument/2006/relationships/image" Target="../media/image4.png"/><Relationship Id="rId7" Type="http://schemas.openxmlformats.org/officeDocument/2006/relationships/image" Target="../media/image26.png"/><Relationship Id="rId8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11" Type="http://schemas.openxmlformats.org/officeDocument/2006/relationships/image" Target="../media/image22.png"/><Relationship Id="rId10" Type="http://schemas.openxmlformats.org/officeDocument/2006/relationships/image" Target="../media/image5.png"/><Relationship Id="rId12" Type="http://schemas.openxmlformats.org/officeDocument/2006/relationships/image" Target="../media/image3.png"/><Relationship Id="rId9" Type="http://schemas.openxmlformats.org/officeDocument/2006/relationships/image" Target="../media/image9.png"/><Relationship Id="rId5" Type="http://schemas.openxmlformats.org/officeDocument/2006/relationships/image" Target="../media/image23.png"/><Relationship Id="rId6" Type="http://schemas.openxmlformats.org/officeDocument/2006/relationships/image" Target="../media/image10.png"/><Relationship Id="rId7" Type="http://schemas.openxmlformats.org/officeDocument/2006/relationships/image" Target="../media/image1.png"/><Relationship Id="rId8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24.png"/><Relationship Id="rId10" Type="http://schemas.openxmlformats.org/officeDocument/2006/relationships/image" Target="../media/image29.png"/><Relationship Id="rId13" Type="http://schemas.openxmlformats.org/officeDocument/2006/relationships/image" Target="../media/image27.png"/><Relationship Id="rId1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32.png"/><Relationship Id="rId9" Type="http://schemas.openxmlformats.org/officeDocument/2006/relationships/image" Target="../media/image30.png"/><Relationship Id="rId14" Type="http://schemas.openxmlformats.org/officeDocument/2006/relationships/image" Target="../media/image19.png"/><Relationship Id="rId5" Type="http://schemas.openxmlformats.org/officeDocument/2006/relationships/image" Target="../media/image11.png"/><Relationship Id="rId6" Type="http://schemas.openxmlformats.org/officeDocument/2006/relationships/image" Target="../media/image18.png"/><Relationship Id="rId7" Type="http://schemas.openxmlformats.org/officeDocument/2006/relationships/image" Target="../media/image25.png"/><Relationship Id="rId8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3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4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3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5" Type="http://schemas.openxmlformats.org/officeDocument/2006/relationships/image" Target="../media/image4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33.png"/><Relationship Id="rId5" Type="http://schemas.openxmlformats.org/officeDocument/2006/relationships/image" Target="../media/image43.png"/><Relationship Id="rId6" Type="http://schemas.openxmlformats.org/officeDocument/2006/relationships/image" Target="../media/image38.png"/><Relationship Id="rId7" Type="http://schemas.openxmlformats.org/officeDocument/2006/relationships/image" Target="../media/image4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33.png"/><Relationship Id="rId5" Type="http://schemas.openxmlformats.org/officeDocument/2006/relationships/image" Target="../media/image43.png"/><Relationship Id="rId6" Type="http://schemas.openxmlformats.org/officeDocument/2006/relationships/image" Target="../media/image49.png"/><Relationship Id="rId7" Type="http://schemas.openxmlformats.org/officeDocument/2006/relationships/image" Target="../media/image51.png"/></Relationships>
</file>

<file path=ppt/slides/_rels/slide11.xml.rels><?xml version="1.0" encoding="UTF-8" standalone="yes"?><Relationships xmlns="http://schemas.openxmlformats.org/package/2006/relationships"><Relationship Id="rId10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40.png"/><Relationship Id="rId9" Type="http://schemas.openxmlformats.org/officeDocument/2006/relationships/image" Target="../media/image41.png"/><Relationship Id="rId5" Type="http://schemas.openxmlformats.org/officeDocument/2006/relationships/image" Target="../media/image37.png"/><Relationship Id="rId6" Type="http://schemas.openxmlformats.org/officeDocument/2006/relationships/image" Target="../media/image1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50.png"/><Relationship Id="rId5" Type="http://schemas.openxmlformats.org/officeDocument/2006/relationships/image" Target="../media/image52.png"/><Relationship Id="rId6" Type="http://schemas.openxmlformats.org/officeDocument/2006/relationships/image" Target="../media/image42.png"/><Relationship Id="rId7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039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825341" y="2152650"/>
            <a:ext cx="10541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Bluestock Mutual Fund Analytics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083050" y="3670240"/>
            <a:ext cx="50673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Data Analyst Internship Capstone project</a:t>
            </a:r>
            <a:r>
              <a:rPr lang="en-US" sz="180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b="0" i="0" lang="en-US" sz="180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Presentation </a:t>
            </a:r>
            <a:endParaRPr b="0" i="0" sz="1800" u="none" cap="none" strike="noStrike">
              <a:solidFill>
                <a:srgbClr val="475569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by Lingutla Ranadeep</a:t>
            </a:r>
            <a:endParaRPr sz="1800">
              <a:solidFill>
                <a:srgbClr val="47556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3838575" y="4430910"/>
            <a:ext cx="451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887610"/>
            <a:ext cx="5381625" cy="54941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887610"/>
            <a:ext cx="5381625" cy="54941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125908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866775" y="2068710"/>
            <a:ext cx="5030628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The Problem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66775" y="2462956"/>
            <a:ext cx="47910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Retail investors often lack accessible, data-driven insights into mutual fund performance, inherent risks, and broader market trends.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66775" y="3337173"/>
            <a:ext cx="47910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Traditional metrics fail to provide a comprehensive view of downside risk or investor behavior patterns, making informed decision-making difficult.</a:t>
            </a:r>
            <a:endParaRPr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34150" y="125908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6534150" y="2068710"/>
            <a:ext cx="5030628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The Objective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534150" y="2462956"/>
            <a:ext cx="479107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Develop an end-to-end analytics solution to extract, process, and visualize critical mutual fund data.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534150" y="3093392"/>
            <a:ext cx="47910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Provide interactive dashboards that deliver deep insights into industry AUM growth, SIP continuity, and advanced risk metrics (VaR, CVaR, Sharpe Ratio).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19175" y="141148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86550" y="141148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Problem &amp; Objective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887610"/>
            <a:ext cx="3492549" cy="54941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887610"/>
            <a:ext cx="3492549" cy="54941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887610"/>
            <a:ext cx="3492549" cy="54941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123051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866775" y="2040135"/>
            <a:ext cx="3047099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AMFI Industry Data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66775" y="2434381"/>
            <a:ext cx="2901999" cy="1218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Aggregated data from the Association of Mutual Funds in India tracking total Assets Under Management (AUM), total active folios, and industry-wide scheme counts.</a:t>
            </a:r>
            <a:endParaRPr/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123051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4645074" y="2040135"/>
            <a:ext cx="3047099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Historical NAV &amp; Returns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645074" y="2434381"/>
            <a:ext cx="2901999" cy="1218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Daily historical Net Asset Value (NAV) data to calculate crucial performance and risk metrics including 3-year returns, Alpha, and daily return distributions.</a:t>
            </a:r>
            <a:endParaRPr/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123051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8423374" y="2040135"/>
            <a:ext cx="3047099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Investor Demographics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423374" y="2434381"/>
            <a:ext cx="2901999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Transactional data detailing investment types (SIP vs Lumpsum), geographic distribution across states, and specific age-group participation metrics.</a:t>
            </a:r>
            <a:endParaRPr/>
          </a:p>
        </p:txBody>
      </p:sp>
      <p:pic>
        <p:nvPicPr>
          <p:cNvPr descr="image.png" id="123" name="Google Shape;123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19175" y="138291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97474" y="138291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542436" y="1382910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Key Data Sources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24955"/>
            <a:ext cx="3093690" cy="3219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48931" y="2024955"/>
            <a:ext cx="3093690" cy="3219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26363" y="2139255"/>
            <a:ext cx="3093690" cy="2990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40373" y="344418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17805" y="344418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737270" y="242500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1188154" y="3377505"/>
            <a:ext cx="18602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1. Data Processing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781050" y="3701355"/>
            <a:ext cx="267459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Python (Pandas) utilized to construct a complete automated ETL pipeline. Extracted historical data, cleaned inconsistencies, and generated calculated risk metrics.</a:t>
            </a:r>
            <a:endParaRPr/>
          </a:p>
        </p:txBody>
      </p:sp>
      <p:pic>
        <p:nvPicPr>
          <p:cNvPr descr="image.png" id="140" name="Google Shape;140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4702" y="242500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5295602" y="3377505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2. Data Storage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4758481" y="3701355"/>
            <a:ext cx="267459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Structured the cleaned datasets into a robust SQLite relational database, enabling fast querying and efficient data modeling for downstream applications.</a:t>
            </a:r>
            <a:endParaRPr/>
          </a:p>
        </p:txBody>
      </p:sp>
      <p:pic>
        <p:nvPicPr>
          <p:cNvPr descr="image.png" id="143" name="Google Shape;143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692133" y="253930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9283035" y="3491805"/>
            <a:ext cx="158019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3. Visualization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8735913" y="3815655"/>
            <a:ext cx="267459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Developed highly interactive Power BI dashboards to perform exploratory and advanced analytics, delivering actionable insights to stakeholders.</a:t>
            </a:r>
            <a:endParaRPr/>
          </a:p>
        </p:txBody>
      </p:sp>
      <p:pic>
        <p:nvPicPr>
          <p:cNvPr descr="image.png" id="146" name="Google Shape;146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984920" y="2653605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962352" y="2653605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901683" y="2767905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System Architecture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17"/>
          <p:cNvGrpSpPr/>
          <p:nvPr/>
        </p:nvGrpSpPr>
        <p:grpSpPr>
          <a:xfrm>
            <a:off x="5905500" y="1143000"/>
            <a:ext cx="5715000" cy="5143500"/>
            <a:chOff x="0" y="0"/>
            <a:chExt cx="5715000" cy="5143500"/>
          </a:xfrm>
        </p:grpSpPr>
        <p:sp>
          <p:nvSpPr>
            <p:cNvPr id="155" name="Google Shape;155;p17"/>
            <p:cNvSpPr/>
            <p:nvPr/>
          </p:nvSpPr>
          <p:spPr>
            <a:xfrm>
              <a:off x="0" y="0"/>
              <a:ext cx="5715000" cy="5143500"/>
            </a:xfrm>
            <a:prstGeom prst="roundRect">
              <a:avLst>
                <a:gd fmla="val 2962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6" name="Google Shape;156;p17"/>
            <p:cNvPicPr preferRelativeResize="0"/>
            <p:nvPr/>
          </p:nvPicPr>
          <p:blipFill rotWithShape="1">
            <a:blip r:embed="rId4">
              <a:alphaModFix/>
            </a:blip>
            <a:srcRect b="1578" l="0" r="0" t="1588"/>
            <a:stretch/>
          </p:blipFill>
          <p:spPr>
            <a:xfrm>
              <a:off x="285750" y="1143000"/>
              <a:ext cx="5143500" cy="2857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7" name="Google Shape;157;p17"/>
          <p:cNvGrpSpPr/>
          <p:nvPr/>
        </p:nvGrpSpPr>
        <p:grpSpPr>
          <a:xfrm>
            <a:off x="571500" y="1143000"/>
            <a:ext cx="4953000" cy="5000625"/>
            <a:chOff x="0" y="0"/>
            <a:chExt cx="4953000" cy="5000625"/>
          </a:xfrm>
        </p:grpSpPr>
        <p:grpSp>
          <p:nvGrpSpPr>
            <p:cNvPr id="158" name="Google Shape;158;p17"/>
            <p:cNvGrpSpPr/>
            <p:nvPr/>
          </p:nvGrpSpPr>
          <p:grpSpPr>
            <a:xfrm>
              <a:off x="0" y="0"/>
              <a:ext cx="4953000" cy="1143000"/>
              <a:chOff x="0" y="0"/>
              <a:chExt cx="4953000" cy="1143000"/>
            </a:xfrm>
          </p:grpSpPr>
          <p:sp>
            <p:nvSpPr>
              <p:cNvPr id="159" name="Google Shape;159;p17"/>
              <p:cNvSpPr/>
              <p:nvPr/>
            </p:nvSpPr>
            <p:spPr>
              <a:xfrm>
                <a:off x="0" y="0"/>
                <a:ext cx="49530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17"/>
              <p:cNvSpPr txBox="1"/>
              <p:nvPr/>
            </p:nvSpPr>
            <p:spPr>
              <a:xfrm>
                <a:off x="190500" y="0"/>
                <a:ext cx="45720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1E40A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Strong Macro Growth</a:t>
                </a:r>
                <a:endParaRPr b="1" sz="1400">
                  <a:solidFill>
                    <a:srgbClr val="1E40A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Industry AUM showed strong growth trajectories between 2022 and 2025.</a:t>
                </a:r>
                <a:endParaRPr b="0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61" name="Google Shape;161;p17"/>
            <p:cNvGrpSpPr/>
            <p:nvPr/>
          </p:nvGrpSpPr>
          <p:grpSpPr>
            <a:xfrm>
              <a:off x="0" y="1285875"/>
              <a:ext cx="4953000" cy="1143000"/>
              <a:chOff x="0" y="0"/>
              <a:chExt cx="4953000" cy="1143000"/>
            </a:xfrm>
          </p:grpSpPr>
          <p:sp>
            <p:nvSpPr>
              <p:cNvPr id="162" name="Google Shape;162;p17"/>
              <p:cNvSpPr/>
              <p:nvPr/>
            </p:nvSpPr>
            <p:spPr>
              <a:xfrm>
                <a:off x="0" y="0"/>
                <a:ext cx="49530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F0FDF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17"/>
              <p:cNvSpPr txBox="1"/>
              <p:nvPr/>
            </p:nvSpPr>
            <p:spPr>
              <a:xfrm>
                <a:off x="190500" y="0"/>
                <a:ext cx="45720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166534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Record Highs</a:t>
                </a:r>
                <a:endParaRPr b="1" sz="1400">
                  <a:solidFill>
                    <a:srgbClr val="166534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Total Assets Under Management reached a massive 39M Crore.</a:t>
                </a:r>
                <a:endParaRPr b="0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64" name="Google Shape;164;p17"/>
            <p:cNvGrpSpPr/>
            <p:nvPr/>
          </p:nvGrpSpPr>
          <p:grpSpPr>
            <a:xfrm>
              <a:off x="0" y="2571750"/>
              <a:ext cx="4953000" cy="1143000"/>
              <a:chOff x="0" y="0"/>
              <a:chExt cx="4953000" cy="1143000"/>
            </a:xfrm>
          </p:grpSpPr>
          <p:sp>
            <p:nvSpPr>
              <p:cNvPr id="165" name="Google Shape;165;p17"/>
              <p:cNvSpPr/>
              <p:nvPr/>
            </p:nvSpPr>
            <p:spPr>
              <a:xfrm>
                <a:off x="0" y="0"/>
                <a:ext cx="49530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FFF7E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7"/>
              <p:cNvSpPr txBox="1"/>
              <p:nvPr/>
            </p:nvSpPr>
            <p:spPr>
              <a:xfrm>
                <a:off x="190500" y="0"/>
                <a:ext cx="45720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9A3412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Widespread Adoption</a:t>
                </a:r>
                <a:endParaRPr b="1" sz="1400">
                  <a:solidFill>
                    <a:srgbClr val="9A3412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Total Folios climbed to 416 Crore, encompassing roughly 14K active schemes.</a:t>
                </a:r>
                <a:endParaRPr b="0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67" name="Google Shape;167;p17"/>
            <p:cNvGrpSpPr/>
            <p:nvPr/>
          </p:nvGrpSpPr>
          <p:grpSpPr>
            <a:xfrm>
              <a:off x="0" y="3857625"/>
              <a:ext cx="4953000" cy="1143000"/>
              <a:chOff x="0" y="0"/>
              <a:chExt cx="4953000" cy="1143000"/>
            </a:xfrm>
          </p:grpSpPr>
          <p:sp>
            <p:nvSpPr>
              <p:cNvPr id="168" name="Google Shape;168;p17"/>
              <p:cNvSpPr/>
              <p:nvPr/>
            </p:nvSpPr>
            <p:spPr>
              <a:xfrm>
                <a:off x="0" y="0"/>
                <a:ext cx="49530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F5F3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17"/>
              <p:cNvSpPr txBox="1"/>
              <p:nvPr/>
            </p:nvSpPr>
            <p:spPr>
              <a:xfrm>
                <a:off x="190500" y="0"/>
                <a:ext cx="45720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5B21B6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Market Leaders</a:t>
                </a:r>
                <a:endParaRPr b="1" sz="1400">
                  <a:solidFill>
                    <a:srgbClr val="5B21B6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SBI Mutual Fund, ICICI Prudential, and HDFC Mutual Fund emerged as the dominant AMCs by AUM volume.</a:t>
                </a:r>
                <a:endParaRPr b="0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170" name="Google Shape;170;p17"/>
          <p:cNvSpPr txBox="1"/>
          <p:nvPr/>
        </p:nvSpPr>
        <p:spPr>
          <a:xfrm>
            <a:off x="571500" y="381000"/>
            <a:ext cx="11049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EDA Highlights: Industry Overview &amp; Growth</a:t>
            </a:r>
            <a:endParaRPr b="1" sz="320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18"/>
          <p:cNvGrpSpPr/>
          <p:nvPr/>
        </p:nvGrpSpPr>
        <p:grpSpPr>
          <a:xfrm>
            <a:off x="571500" y="1333500"/>
            <a:ext cx="4953000" cy="1428900"/>
            <a:chOff x="0" y="0"/>
            <a:chExt cx="4953000" cy="1428900"/>
          </a:xfrm>
        </p:grpSpPr>
        <p:sp>
          <p:nvSpPr>
            <p:cNvPr id="176" name="Google Shape;176;p18"/>
            <p:cNvSpPr/>
            <p:nvPr/>
          </p:nvSpPr>
          <p:spPr>
            <a:xfrm>
              <a:off x="0" y="0"/>
              <a:ext cx="4953000" cy="1428900"/>
            </a:xfrm>
            <a:prstGeom prst="roundRect">
              <a:avLst>
                <a:gd fmla="val 8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8"/>
            <p:cNvSpPr txBox="1"/>
            <p:nvPr/>
          </p:nvSpPr>
          <p:spPr>
            <a:xfrm>
              <a:off x="190500" y="0"/>
              <a:ext cx="4572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E40AF"/>
                  </a:solidFill>
                  <a:latin typeface="Poppins"/>
                  <a:ea typeface="Poppins"/>
                  <a:cs typeface="Poppins"/>
                  <a:sym typeface="Poppins"/>
                </a:rPr>
                <a:t>Young Investors Lead</a:t>
              </a:r>
              <a:endParaRPr b="1" sz="1400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Investors aged 26–45 represented the absolute most active investor segment by investment volume.</a:t>
              </a:r>
              <a:endParaRPr b="0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8" name="Google Shape;178;p18"/>
          <p:cNvGrpSpPr/>
          <p:nvPr/>
        </p:nvGrpSpPr>
        <p:grpSpPr>
          <a:xfrm>
            <a:off x="571500" y="2952750"/>
            <a:ext cx="4953000" cy="1428900"/>
            <a:chOff x="0" y="0"/>
            <a:chExt cx="4953000" cy="1428900"/>
          </a:xfrm>
        </p:grpSpPr>
        <p:sp>
          <p:nvSpPr>
            <p:cNvPr id="179" name="Google Shape;179;p18"/>
            <p:cNvSpPr/>
            <p:nvPr/>
          </p:nvSpPr>
          <p:spPr>
            <a:xfrm>
              <a:off x="0" y="0"/>
              <a:ext cx="4953000" cy="1428900"/>
            </a:xfrm>
            <a:prstGeom prst="roundRect">
              <a:avLst>
                <a:gd fmla="val 8000" name="adj"/>
              </a:avLst>
            </a:prstGeom>
            <a:solidFill>
              <a:srgbClr val="F0FD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8"/>
            <p:cNvSpPr txBox="1"/>
            <p:nvPr/>
          </p:nvSpPr>
          <p:spPr>
            <a:xfrm>
              <a:off x="190500" y="0"/>
              <a:ext cx="4572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66534"/>
                  </a:solidFill>
                  <a:latin typeface="Poppins"/>
                  <a:ea typeface="Poppins"/>
                  <a:cs typeface="Poppins"/>
                  <a:sym typeface="Poppins"/>
                </a:rPr>
                <a:t>Transaction Preferences</a:t>
              </a:r>
              <a:endParaRPr b="1" sz="1400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Lumpsum investments accounted for the majority (58.49%) of transaction types, compared to SIPs (35.34%).</a:t>
              </a:r>
              <a:endParaRPr b="0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1" name="Google Shape;181;p18"/>
          <p:cNvGrpSpPr/>
          <p:nvPr/>
        </p:nvGrpSpPr>
        <p:grpSpPr>
          <a:xfrm>
            <a:off x="571500" y="4572000"/>
            <a:ext cx="4953000" cy="1428900"/>
            <a:chOff x="0" y="0"/>
            <a:chExt cx="4953000" cy="1428900"/>
          </a:xfrm>
        </p:grpSpPr>
        <p:sp>
          <p:nvSpPr>
            <p:cNvPr id="182" name="Google Shape;182;p18"/>
            <p:cNvSpPr/>
            <p:nvPr/>
          </p:nvSpPr>
          <p:spPr>
            <a:xfrm>
              <a:off x="0" y="0"/>
              <a:ext cx="4953000" cy="1428900"/>
            </a:xfrm>
            <a:prstGeom prst="roundRect">
              <a:avLst>
                <a:gd fmla="val 8000" name="adj"/>
              </a:avLst>
            </a:prstGeom>
            <a:solidFill>
              <a:srgbClr val="FFF7E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8"/>
            <p:cNvSpPr txBox="1"/>
            <p:nvPr/>
          </p:nvSpPr>
          <p:spPr>
            <a:xfrm>
              <a:off x="190500" y="0"/>
              <a:ext cx="4572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9A3412"/>
                  </a:solidFill>
                  <a:latin typeface="Poppins"/>
                  <a:ea typeface="Poppins"/>
                  <a:cs typeface="Poppins"/>
                  <a:sym typeface="Poppins"/>
                </a:rPr>
                <a:t>Geographic Concentration</a:t>
              </a:r>
              <a:endParaRPr b="1" sz="1400">
                <a:solidFill>
                  <a:srgbClr val="9A3412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Punjab, Tamil Nadu, and Madhya Pradesh registered the highest transaction amounts across states.</a:t>
              </a:r>
              <a:endParaRPr b="0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84" name="Google Shape;184;p18"/>
          <p:cNvSpPr/>
          <p:nvPr/>
        </p:nvSpPr>
        <p:spPr>
          <a:xfrm>
            <a:off x="5905500" y="1333500"/>
            <a:ext cx="5715000" cy="4667400"/>
          </a:xfrm>
          <a:prstGeom prst="roundRect">
            <a:avLst>
              <a:gd fmla="val 326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5" name="Google Shape;185;p18"/>
          <p:cNvPicPr preferRelativeResize="0"/>
          <p:nvPr/>
        </p:nvPicPr>
        <p:blipFill rotWithShape="1">
          <a:blip r:embed="rId4">
            <a:alphaModFix/>
          </a:blip>
          <a:srcRect b="0" l="9930" r="9922" t="0"/>
          <a:stretch/>
        </p:blipFill>
        <p:spPr>
          <a:xfrm>
            <a:off x="6191250" y="1809750"/>
            <a:ext cx="5143500" cy="37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 txBox="1"/>
          <p:nvPr/>
        </p:nvSpPr>
        <p:spPr>
          <a:xfrm>
            <a:off x="571500" y="381000"/>
            <a:ext cx="11049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EDA Highlights: Investor Demographics</a:t>
            </a:r>
            <a:endParaRPr b="1" sz="320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/>
          <p:nvPr/>
        </p:nvSpPr>
        <p:spPr>
          <a:xfrm>
            <a:off x="571500" y="381000"/>
            <a:ext cx="11049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Performance Metrics: </a:t>
            </a:r>
            <a:r>
              <a:rPr b="1" lang="en-US" sz="32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SIP &amp; Market Trends </a:t>
            </a:r>
            <a:endParaRPr b="1" sz="320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92" name="Google Shape;192;p19"/>
          <p:cNvGrpSpPr/>
          <p:nvPr/>
        </p:nvGrpSpPr>
        <p:grpSpPr>
          <a:xfrm>
            <a:off x="571500" y="1333500"/>
            <a:ext cx="4953000" cy="1143000"/>
            <a:chOff x="0" y="0"/>
            <a:chExt cx="4953000" cy="1143000"/>
          </a:xfrm>
        </p:grpSpPr>
        <p:sp>
          <p:nvSpPr>
            <p:cNvPr id="193" name="Google Shape;193;p19"/>
            <p:cNvSpPr/>
            <p:nvPr/>
          </p:nvSpPr>
          <p:spPr>
            <a:xfrm>
              <a:off x="0" y="0"/>
              <a:ext cx="4953000" cy="1143000"/>
            </a:xfrm>
            <a:prstGeom prst="roundRect">
              <a:avLst>
                <a:gd fmla="val 10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9"/>
            <p:cNvSpPr txBox="1"/>
            <p:nvPr/>
          </p:nvSpPr>
          <p:spPr>
            <a:xfrm>
              <a:off x="190500" y="0"/>
              <a:ext cx="4572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E40AF"/>
                  </a:solidFill>
                  <a:latin typeface="Poppins"/>
                  <a:ea typeface="Poppins"/>
                  <a:cs typeface="Poppins"/>
                  <a:sym typeface="Poppins"/>
                </a:rPr>
                <a:t>Consistent Upward Trend</a:t>
              </a:r>
              <a:endParaRPr b="1" sz="1400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Monthly SIP inflows increased consistently from 2022 to 2025, reaching ~940K Crore overall.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5" name="Google Shape;195;p19"/>
          <p:cNvGrpSpPr/>
          <p:nvPr/>
        </p:nvGrpSpPr>
        <p:grpSpPr>
          <a:xfrm>
            <a:off x="571500" y="2619375"/>
            <a:ext cx="4953000" cy="1143000"/>
            <a:chOff x="0" y="0"/>
            <a:chExt cx="4953000" cy="1143000"/>
          </a:xfrm>
        </p:grpSpPr>
        <p:sp>
          <p:nvSpPr>
            <p:cNvPr id="196" name="Google Shape;196;p19"/>
            <p:cNvSpPr/>
            <p:nvPr/>
          </p:nvSpPr>
          <p:spPr>
            <a:xfrm>
              <a:off x="0" y="0"/>
              <a:ext cx="4953000" cy="1143000"/>
            </a:xfrm>
            <a:prstGeom prst="roundRect">
              <a:avLst>
                <a:gd fmla="val 10000" name="adj"/>
              </a:avLst>
            </a:prstGeom>
            <a:solidFill>
              <a:srgbClr val="F0FD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9"/>
            <p:cNvSpPr txBox="1"/>
            <p:nvPr/>
          </p:nvSpPr>
          <p:spPr>
            <a:xfrm>
              <a:off x="190500" y="0"/>
              <a:ext cx="4572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66534"/>
                  </a:solidFill>
                  <a:latin typeface="Poppins"/>
                  <a:ea typeface="Poppins"/>
                  <a:cs typeface="Poppins"/>
                  <a:sym typeface="Poppins"/>
                </a:rPr>
                <a:t>Category Preferences</a:t>
              </a:r>
              <a:endParaRPr b="1" sz="1400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Liquid funds received massive net inflows, remaining heavily popular for short-term liquidity needs.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8" name="Google Shape;198;p19"/>
          <p:cNvGrpSpPr/>
          <p:nvPr/>
        </p:nvGrpSpPr>
        <p:grpSpPr>
          <a:xfrm>
            <a:off x="571500" y="3905250"/>
            <a:ext cx="4953000" cy="1143000"/>
            <a:chOff x="0" y="0"/>
            <a:chExt cx="4953000" cy="1143000"/>
          </a:xfrm>
        </p:grpSpPr>
        <p:sp>
          <p:nvSpPr>
            <p:cNvPr id="199" name="Google Shape;199;p19"/>
            <p:cNvSpPr/>
            <p:nvPr/>
          </p:nvSpPr>
          <p:spPr>
            <a:xfrm>
              <a:off x="0" y="0"/>
              <a:ext cx="4953000" cy="1143000"/>
            </a:xfrm>
            <a:prstGeom prst="roundRect">
              <a:avLst>
                <a:gd fmla="val 10000" name="adj"/>
              </a:avLst>
            </a:prstGeom>
            <a:solidFill>
              <a:srgbClr val="FFF7E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9"/>
            <p:cNvSpPr txBox="1"/>
            <p:nvPr/>
          </p:nvSpPr>
          <p:spPr>
            <a:xfrm>
              <a:off x="190500" y="0"/>
              <a:ext cx="4572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9A3412"/>
                  </a:solidFill>
                  <a:latin typeface="Poppins"/>
                  <a:ea typeface="Poppins"/>
                  <a:cs typeface="Poppins"/>
                  <a:sym typeface="Poppins"/>
                </a:rPr>
                <a:t>Equity Interest</a:t>
              </a:r>
              <a:endParaRPr b="1" sz="1400">
                <a:solidFill>
                  <a:srgbClr val="9A3412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Sectoral/Thematic and Flexi Cap funds attracted the highest investor interest within equity-oriented categories.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1" name="Google Shape;201;p19"/>
          <p:cNvGrpSpPr/>
          <p:nvPr/>
        </p:nvGrpSpPr>
        <p:grpSpPr>
          <a:xfrm>
            <a:off x="571500" y="5191125"/>
            <a:ext cx="4953000" cy="1143000"/>
            <a:chOff x="0" y="0"/>
            <a:chExt cx="4953000" cy="1143000"/>
          </a:xfrm>
        </p:grpSpPr>
        <p:sp>
          <p:nvSpPr>
            <p:cNvPr id="202" name="Google Shape;202;p19"/>
            <p:cNvSpPr/>
            <p:nvPr/>
          </p:nvSpPr>
          <p:spPr>
            <a:xfrm>
              <a:off x="0" y="0"/>
              <a:ext cx="4953000" cy="1143000"/>
            </a:xfrm>
            <a:prstGeom prst="roundRect">
              <a:avLst>
                <a:gd fmla="val 10000" name="adj"/>
              </a:avLst>
            </a:prstGeom>
            <a:solidFill>
              <a:srgbClr val="F5F3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9"/>
            <p:cNvSpPr txBox="1"/>
            <p:nvPr/>
          </p:nvSpPr>
          <p:spPr>
            <a:xfrm>
              <a:off x="190500" y="0"/>
              <a:ext cx="4572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5B21B6"/>
                  </a:solidFill>
                  <a:latin typeface="Poppins"/>
                  <a:ea typeface="Poppins"/>
                  <a:cs typeface="Poppins"/>
                  <a:sym typeface="Poppins"/>
                </a:rPr>
                <a:t>Retail Confidence</a:t>
              </a:r>
              <a:endParaRPr b="1" sz="1400">
                <a:solidFill>
                  <a:srgbClr val="5B21B6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Rising inflows indicate strong retail confidence in long-term wealth creation.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04" name="Google Shape;204;p19"/>
          <p:cNvSpPr txBox="1"/>
          <p:nvPr/>
        </p:nvSpPr>
        <p:spPr>
          <a:xfrm>
            <a:off x="6198508" y="1528839"/>
            <a:ext cx="5274145" cy="3906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41">
              <a:solidFill>
                <a:srgbClr val="1E3A8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5" name="Google Shape;20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27000" y="1769549"/>
            <a:ext cx="5544449" cy="319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571500" y="381000"/>
            <a:ext cx="11049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Performance Metrics: Risk &amp; Advanced Analytics</a:t>
            </a:r>
            <a:endParaRPr b="1" sz="320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12" name="Google Shape;212;p20"/>
          <p:cNvGrpSpPr/>
          <p:nvPr/>
        </p:nvGrpSpPr>
        <p:grpSpPr>
          <a:xfrm>
            <a:off x="571500" y="1238250"/>
            <a:ext cx="5143500" cy="1238400"/>
            <a:chOff x="0" y="0"/>
            <a:chExt cx="5143500" cy="1238400"/>
          </a:xfrm>
        </p:grpSpPr>
        <p:sp>
          <p:nvSpPr>
            <p:cNvPr id="213" name="Google Shape;213;p20"/>
            <p:cNvSpPr/>
            <p:nvPr/>
          </p:nvSpPr>
          <p:spPr>
            <a:xfrm>
              <a:off x="0" y="0"/>
              <a:ext cx="5143500" cy="1238400"/>
            </a:xfrm>
            <a:prstGeom prst="roundRect">
              <a:avLst>
                <a:gd fmla="val 923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0"/>
            <p:cNvSpPr txBox="1"/>
            <p:nvPr/>
          </p:nvSpPr>
          <p:spPr>
            <a:xfrm>
              <a:off x="190500" y="0"/>
              <a:ext cx="4762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E40AF"/>
                  </a:solidFill>
                  <a:latin typeface="Poppins"/>
                  <a:ea typeface="Poppins"/>
                  <a:cs typeface="Poppins"/>
                  <a:sym typeface="Poppins"/>
                </a:rPr>
                <a:t>Risk vs Return Analysis: The Trade-off</a:t>
              </a:r>
              <a:endParaRPr b="1" sz="1500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Small-cap and mid-cap funds delivered the highest returns (20%+) but exhibited significantly higher volatility (Std Dev).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5" name="Google Shape;215;p20"/>
          <p:cNvGrpSpPr/>
          <p:nvPr/>
        </p:nvGrpSpPr>
        <p:grpSpPr>
          <a:xfrm>
            <a:off x="571500" y="2619375"/>
            <a:ext cx="5143500" cy="1238400"/>
            <a:chOff x="0" y="0"/>
            <a:chExt cx="5143500" cy="1238400"/>
          </a:xfrm>
        </p:grpSpPr>
        <p:sp>
          <p:nvSpPr>
            <p:cNvPr id="216" name="Google Shape;216;p20"/>
            <p:cNvSpPr/>
            <p:nvPr/>
          </p:nvSpPr>
          <p:spPr>
            <a:xfrm>
              <a:off x="0" y="0"/>
              <a:ext cx="5143500" cy="1238400"/>
            </a:xfrm>
            <a:prstGeom prst="roundRect">
              <a:avLst>
                <a:gd fmla="val 9230" name="adj"/>
              </a:avLst>
            </a:prstGeom>
            <a:solidFill>
              <a:srgbClr val="F0FD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20"/>
            <p:cNvSpPr txBox="1"/>
            <p:nvPr/>
          </p:nvSpPr>
          <p:spPr>
            <a:xfrm>
              <a:off x="190500" y="0"/>
              <a:ext cx="4762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66534"/>
                  </a:solidFill>
                  <a:latin typeface="Poppins"/>
                  <a:ea typeface="Poppins"/>
                  <a:cs typeface="Poppins"/>
                  <a:sym typeface="Poppins"/>
                </a:rPr>
                <a:t>Advanced Risk Metrics</a:t>
              </a:r>
              <a:endParaRPr b="1" sz="1500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Calculated historical VaR, CVaR, and Rolling Sharpe Ratios to identify potential downside risk across various schemes.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8" name="Google Shape;218;p20"/>
          <p:cNvGrpSpPr/>
          <p:nvPr/>
        </p:nvGrpSpPr>
        <p:grpSpPr>
          <a:xfrm>
            <a:off x="571500" y="4000500"/>
            <a:ext cx="5143500" cy="1238400"/>
            <a:chOff x="0" y="0"/>
            <a:chExt cx="5143500" cy="1238400"/>
          </a:xfrm>
        </p:grpSpPr>
        <p:sp>
          <p:nvSpPr>
            <p:cNvPr id="219" name="Google Shape;219;p20"/>
            <p:cNvSpPr/>
            <p:nvPr/>
          </p:nvSpPr>
          <p:spPr>
            <a:xfrm>
              <a:off x="0" y="0"/>
              <a:ext cx="5143500" cy="1238400"/>
            </a:xfrm>
            <a:prstGeom prst="roundRect">
              <a:avLst>
                <a:gd fmla="val 9230" name="adj"/>
              </a:avLst>
            </a:prstGeom>
            <a:solidFill>
              <a:srgbClr val="FFF7E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0"/>
            <p:cNvSpPr txBox="1"/>
            <p:nvPr/>
          </p:nvSpPr>
          <p:spPr>
            <a:xfrm>
              <a:off x="190500" y="0"/>
              <a:ext cx="4762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9A3412"/>
                  </a:solidFill>
                  <a:latin typeface="Poppins"/>
                  <a:ea typeface="Poppins"/>
                  <a:cs typeface="Poppins"/>
                  <a:sym typeface="Poppins"/>
                </a:rPr>
                <a:t>Risk-Adjusted Leaders</a:t>
              </a:r>
              <a:endParaRPr b="1" sz="1500">
                <a:solidFill>
                  <a:srgbClr val="9A3412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Funds with higher Sharpe Ratios (e.g., ABSL Frontline, DSP Midcap) consistently delivered superior risk-adjusted performance.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1" name="Google Shape;221;p20"/>
          <p:cNvGrpSpPr/>
          <p:nvPr/>
        </p:nvGrpSpPr>
        <p:grpSpPr>
          <a:xfrm>
            <a:off x="571500" y="5381625"/>
            <a:ext cx="5143500" cy="1047900"/>
            <a:chOff x="0" y="0"/>
            <a:chExt cx="5143500" cy="1047900"/>
          </a:xfrm>
        </p:grpSpPr>
        <p:sp>
          <p:nvSpPr>
            <p:cNvPr id="222" name="Google Shape;222;p20"/>
            <p:cNvSpPr/>
            <p:nvPr/>
          </p:nvSpPr>
          <p:spPr>
            <a:xfrm>
              <a:off x="0" y="0"/>
              <a:ext cx="5143500" cy="1047900"/>
            </a:xfrm>
            <a:prstGeom prst="roundRect">
              <a:avLst>
                <a:gd fmla="val 10909" name="adj"/>
              </a:avLst>
            </a:prstGeom>
            <a:solidFill>
              <a:srgbClr val="F5F3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0"/>
            <p:cNvSpPr txBox="1"/>
            <p:nvPr/>
          </p:nvSpPr>
          <p:spPr>
            <a:xfrm>
              <a:off x="190500" y="0"/>
              <a:ext cx="4762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5B21B6"/>
                  </a:solidFill>
                  <a:latin typeface="Poppins"/>
                  <a:ea typeface="Poppins"/>
                  <a:cs typeface="Poppins"/>
                  <a:sym typeface="Poppins"/>
                </a:rPr>
                <a:t>Sector Concentration</a:t>
              </a:r>
              <a:endParaRPr b="1" sz="1500">
                <a:solidFill>
                  <a:srgbClr val="5B21B6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Measured sector concentration risk using the Herfindahl-Hirschman Index (HHI) for robust portfolio analysis.</a:t>
              </a:r>
              <a:endParaRPr b="0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4" name="Google Shape;224;p20"/>
          <p:cNvGrpSpPr/>
          <p:nvPr/>
        </p:nvGrpSpPr>
        <p:grpSpPr>
          <a:xfrm>
            <a:off x="6096000" y="1238250"/>
            <a:ext cx="5524500" cy="5191200"/>
            <a:chOff x="0" y="0"/>
            <a:chExt cx="5524500" cy="5191200"/>
          </a:xfrm>
        </p:grpSpPr>
        <p:sp>
          <p:nvSpPr>
            <p:cNvPr id="225" name="Google Shape;225;p20"/>
            <p:cNvSpPr/>
            <p:nvPr/>
          </p:nvSpPr>
          <p:spPr>
            <a:xfrm>
              <a:off x="0" y="0"/>
              <a:ext cx="5524500" cy="5191200"/>
            </a:xfrm>
            <a:prstGeom prst="roundRect">
              <a:avLst>
                <a:gd fmla="val 293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0"/>
            <p:cNvSpPr txBox="1"/>
            <p:nvPr/>
          </p:nvSpPr>
          <p:spPr>
            <a:xfrm>
              <a:off x="285750" y="238125"/>
              <a:ext cx="495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40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227" name="Google Shape;227;p20"/>
            <p:cNvPicPr preferRelativeResize="0"/>
            <p:nvPr/>
          </p:nvPicPr>
          <p:blipFill rotWithShape="1">
            <a:blip r:embed="rId5">
              <a:alphaModFix/>
            </a:blip>
            <a:srcRect b="0" l="15489" r="15489" t="0"/>
            <a:stretch/>
          </p:blipFill>
          <p:spPr>
            <a:xfrm>
              <a:off x="142800" y="404850"/>
              <a:ext cx="5238900" cy="4381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2" name="Google Shape;23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887610"/>
            <a:ext cx="5381625" cy="54941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86550" y="887610"/>
            <a:ext cx="5381625" cy="5494139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 txBox="1"/>
          <p:nvPr/>
        </p:nvSpPr>
        <p:spPr>
          <a:xfrm>
            <a:off x="723900" y="3339405"/>
            <a:ext cx="5076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6391275" y="3339405"/>
            <a:ext cx="5076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571500" y="476250"/>
            <a:ext cx="11601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Dashboard Screenshots </a:t>
            </a:r>
            <a:endParaRPr/>
          </a:p>
        </p:txBody>
      </p:sp>
      <p:pic>
        <p:nvPicPr>
          <p:cNvPr id="238" name="Google Shape;238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6513" y="2026000"/>
            <a:ext cx="5311600" cy="346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86550" y="2026000"/>
            <a:ext cx="5381626" cy="346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4" name="Google Shape;24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801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887610"/>
            <a:ext cx="5381625" cy="54941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913" y="887610"/>
            <a:ext cx="5381625" cy="5494139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2"/>
          <p:cNvSpPr txBox="1"/>
          <p:nvPr/>
        </p:nvSpPr>
        <p:spPr>
          <a:xfrm>
            <a:off x="723900" y="3339405"/>
            <a:ext cx="5076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6391275" y="3339405"/>
            <a:ext cx="5076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571500" y="476250"/>
            <a:ext cx="11601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Dashboard Screenshots </a:t>
            </a:r>
            <a:endParaRPr/>
          </a:p>
        </p:txBody>
      </p:sp>
      <p:pic>
        <p:nvPicPr>
          <p:cNvPr id="250" name="Google Shape;250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7700" y="1644525"/>
            <a:ext cx="5229300" cy="39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15075" y="1588450"/>
            <a:ext cx="5229299" cy="398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6" name="Google Shape;25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887610"/>
            <a:ext cx="5334000" cy="54941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887610"/>
            <a:ext cx="5334000" cy="54941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123051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3"/>
          <p:cNvSpPr txBox="1"/>
          <p:nvPr/>
        </p:nvSpPr>
        <p:spPr>
          <a:xfrm>
            <a:off x="866775" y="2040135"/>
            <a:ext cx="4980622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Major Observations</a:t>
            </a:r>
            <a:endParaRPr/>
          </a:p>
        </p:txBody>
      </p:sp>
      <p:pic>
        <p:nvPicPr>
          <p:cNvPr descr="image.png" id="261" name="Google Shape;261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72250" y="122098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3"/>
          <p:cNvSpPr txBox="1"/>
          <p:nvPr/>
        </p:nvSpPr>
        <p:spPr>
          <a:xfrm>
            <a:off x="6572250" y="2030610"/>
            <a:ext cx="5000625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Business Impact</a:t>
            </a:r>
            <a:endParaRPr/>
          </a:p>
        </p:txBody>
      </p:sp>
      <p:pic>
        <p:nvPicPr>
          <p:cNvPr descr="image.png" id="263" name="Google Shape;263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52512" y="1382910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3"/>
          <p:cNvSpPr txBox="1"/>
          <p:nvPr/>
        </p:nvSpPr>
        <p:spPr>
          <a:xfrm>
            <a:off x="1152525" y="2529631"/>
            <a:ext cx="44577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Sustained SIP growth proves it is the preferred investment route for retail investors.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1152525" y="3131492"/>
            <a:ext cx="44577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Advanced analytics revealed significant differences in true downside risk between visually similar funds.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1152525" y="3733353"/>
            <a:ext cx="44577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SIP continuity analysis successfully identified large groups of investors at risk of discontinuing.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1152525" y="4335214"/>
            <a:ext cx="44577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Younger demographics (26-45) are aggressively driving new market volume.</a:t>
            </a:r>
            <a:endParaRPr/>
          </a:p>
        </p:txBody>
      </p:sp>
      <p:pic>
        <p:nvPicPr>
          <p:cNvPr descr="image.png" id="268" name="Google Shape;268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24650" y="137338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3"/>
          <p:cNvSpPr txBox="1"/>
          <p:nvPr/>
        </p:nvSpPr>
        <p:spPr>
          <a:xfrm>
            <a:off x="6858000" y="2520106"/>
            <a:ext cx="44767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Supports entirely data-driven investment decisions for end-users.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6858000" y="3121967"/>
            <a:ext cx="44767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Enables comprehensive comparison of mutual fund performance beyond standard returns.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6858000" y="3723828"/>
            <a:ext cx="44767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Helps identify critical investor behavior patterns for targeted marketing.</a:t>
            </a:r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6858000" y="4325689"/>
            <a:ext cx="44767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Improves overall understanding of portfolio risk and diversification strategies.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Key Findings &amp; Impact</a:t>
            </a:r>
            <a:endParaRPr/>
          </a:p>
        </p:txBody>
      </p:sp>
      <p:pic>
        <p:nvPicPr>
          <p:cNvPr descr="image.png" id="274" name="Google Shape;274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6775" y="2548681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6775" y="3150542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6775" y="3752403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6775" y="4354264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72250" y="2539156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72250" y="3141017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72250" y="3742878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72250" y="4344739"/>
            <a:ext cx="8572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6" name="Google Shape;28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42022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887610"/>
            <a:ext cx="5334000" cy="1962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887610"/>
            <a:ext cx="5334000" cy="196215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4"/>
          <p:cNvSpPr txBox="1"/>
          <p:nvPr/>
        </p:nvSpPr>
        <p:spPr>
          <a:xfrm>
            <a:off x="4000738" y="4084290"/>
            <a:ext cx="4190523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Thank You!</a:t>
            </a:r>
            <a:endParaRPr/>
          </a:p>
        </p:txBody>
      </p:sp>
      <p:sp>
        <p:nvSpPr>
          <p:cNvPr id="290" name="Google Shape;290;p24"/>
          <p:cNvSpPr txBox="1"/>
          <p:nvPr/>
        </p:nvSpPr>
        <p:spPr>
          <a:xfrm>
            <a:off x="4223773" y="5097650"/>
            <a:ext cx="3880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Open for questions and feedback.</a:t>
            </a:r>
            <a:endParaRPr/>
          </a:p>
        </p:txBody>
      </p:sp>
      <p:sp>
        <p:nvSpPr>
          <p:cNvPr id="291" name="Google Shape;291;p24"/>
          <p:cNvSpPr txBox="1"/>
          <p:nvPr/>
        </p:nvSpPr>
        <p:spPr>
          <a:xfrm>
            <a:off x="819150" y="1135260"/>
            <a:ext cx="508063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Project Achievements</a:t>
            </a:r>
            <a:endParaRPr/>
          </a:p>
        </p:txBody>
      </p:sp>
      <p:sp>
        <p:nvSpPr>
          <p:cNvPr id="292" name="Google Shape;292;p24"/>
          <p:cNvSpPr txBox="1"/>
          <p:nvPr/>
        </p:nvSpPr>
        <p:spPr>
          <a:xfrm>
            <a:off x="6534150" y="1135260"/>
            <a:ext cx="508063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Future Enhancements</a:t>
            </a:r>
            <a:endParaRPr/>
          </a:p>
        </p:txBody>
      </p:sp>
      <p:pic>
        <p:nvPicPr>
          <p:cNvPr descr="image.png" id="293" name="Google Shape;293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115431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4"/>
          <p:cNvSpPr txBox="1"/>
          <p:nvPr/>
        </p:nvSpPr>
        <p:spPr>
          <a:xfrm>
            <a:off x="933450" y="1459110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5" name="Google Shape;295;p24"/>
          <p:cNvSpPr txBox="1"/>
          <p:nvPr/>
        </p:nvSpPr>
        <p:spPr>
          <a:xfrm>
            <a:off x="1009650" y="1459110"/>
            <a:ext cx="4648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Built a complete, automated ETL pipeline.</a:t>
            </a:r>
            <a:endParaRPr/>
          </a:p>
        </p:txBody>
      </p:sp>
      <p:sp>
        <p:nvSpPr>
          <p:cNvPr id="296" name="Google Shape;296;p24"/>
          <p:cNvSpPr txBox="1"/>
          <p:nvPr/>
        </p:nvSpPr>
        <p:spPr>
          <a:xfrm>
            <a:off x="933450" y="1687710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7" name="Google Shape;297;p24"/>
          <p:cNvSpPr txBox="1"/>
          <p:nvPr/>
        </p:nvSpPr>
        <p:spPr>
          <a:xfrm>
            <a:off x="1009650" y="1687710"/>
            <a:ext cx="4648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Performed in-depth Exploratory &amp; Advanced Analytics.</a:t>
            </a:r>
            <a:endParaRPr/>
          </a:p>
        </p:txBody>
      </p:sp>
      <p:sp>
        <p:nvSpPr>
          <p:cNvPr id="298" name="Google Shape;298;p24"/>
          <p:cNvSpPr txBox="1"/>
          <p:nvPr/>
        </p:nvSpPr>
        <p:spPr>
          <a:xfrm>
            <a:off x="933450" y="1916310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9" name="Google Shape;299;p24"/>
          <p:cNvSpPr txBox="1"/>
          <p:nvPr/>
        </p:nvSpPr>
        <p:spPr>
          <a:xfrm>
            <a:off x="1009650" y="1916310"/>
            <a:ext cx="4648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Developed highly interactive Power BI dashboards.</a:t>
            </a:r>
            <a:endParaRPr/>
          </a:p>
        </p:txBody>
      </p:sp>
      <p:sp>
        <p:nvSpPr>
          <p:cNvPr id="300" name="Google Shape;300;p24"/>
          <p:cNvSpPr txBox="1"/>
          <p:nvPr/>
        </p:nvSpPr>
        <p:spPr>
          <a:xfrm>
            <a:off x="933450" y="2144910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1" name="Google Shape;301;p24"/>
          <p:cNvSpPr txBox="1"/>
          <p:nvPr/>
        </p:nvSpPr>
        <p:spPr>
          <a:xfrm>
            <a:off x="1009650" y="2144910"/>
            <a:ext cx="4648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Implemented complex risk metrics (VaR, CVaR, HHI).</a:t>
            </a:r>
            <a:endParaRPr/>
          </a:p>
        </p:txBody>
      </p:sp>
      <p:sp>
        <p:nvSpPr>
          <p:cNvPr id="302" name="Google Shape;302;p24"/>
          <p:cNvSpPr txBox="1"/>
          <p:nvPr/>
        </p:nvSpPr>
        <p:spPr>
          <a:xfrm>
            <a:off x="933450" y="2373510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3" name="Google Shape;303;p24"/>
          <p:cNvSpPr txBox="1"/>
          <p:nvPr/>
        </p:nvSpPr>
        <p:spPr>
          <a:xfrm>
            <a:off x="1009650" y="2373510"/>
            <a:ext cx="4648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Created a rule-based Fund Recommendation Engine.</a:t>
            </a:r>
            <a:endParaRPr/>
          </a:p>
        </p:txBody>
      </p:sp>
      <p:pic>
        <p:nvPicPr>
          <p:cNvPr descr="image.png" id="304" name="Google Shape;304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34150" y="115431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4"/>
          <p:cNvSpPr txBox="1"/>
          <p:nvPr/>
        </p:nvSpPr>
        <p:spPr>
          <a:xfrm>
            <a:off x="6648450" y="1459110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6" name="Google Shape;306;p24"/>
          <p:cNvSpPr txBox="1"/>
          <p:nvPr/>
        </p:nvSpPr>
        <p:spPr>
          <a:xfrm>
            <a:off x="6724650" y="1459110"/>
            <a:ext cx="464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Machine Learning-based fund recommendations for higher accuracy.</a:t>
            </a:r>
            <a:endParaRPr/>
          </a:p>
        </p:txBody>
      </p:sp>
      <p:sp>
        <p:nvSpPr>
          <p:cNvPr id="307" name="Google Shape;307;p24"/>
          <p:cNvSpPr txBox="1"/>
          <p:nvPr/>
        </p:nvSpPr>
        <p:spPr>
          <a:xfrm>
            <a:off x="6648450" y="1916310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8" name="Google Shape;308;p24"/>
          <p:cNvSpPr txBox="1"/>
          <p:nvPr/>
        </p:nvSpPr>
        <p:spPr>
          <a:xfrm>
            <a:off x="6724650" y="1916310"/>
            <a:ext cx="4648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Predictive analytics to forecast and model investor behavior.</a:t>
            </a:r>
            <a:endParaRPr/>
          </a:p>
        </p:txBody>
      </p:sp>
      <p:sp>
        <p:nvSpPr>
          <p:cNvPr id="309" name="Google Shape;309;p24"/>
          <p:cNvSpPr txBox="1"/>
          <p:nvPr/>
        </p:nvSpPr>
        <p:spPr>
          <a:xfrm>
            <a:off x="6648450" y="2144910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10" name="Google Shape;310;p24"/>
          <p:cNvSpPr txBox="1"/>
          <p:nvPr/>
        </p:nvSpPr>
        <p:spPr>
          <a:xfrm>
            <a:off x="6724650" y="2144910"/>
            <a:ext cx="4648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Real-time market and Net Asset Value (NAV) API integration.</a:t>
            </a:r>
            <a:endParaRPr/>
          </a:p>
        </p:txBody>
      </p:sp>
      <p:sp>
        <p:nvSpPr>
          <p:cNvPr id="311" name="Google Shape;311;p24"/>
          <p:cNvSpPr txBox="1"/>
          <p:nvPr/>
        </p:nvSpPr>
        <p:spPr>
          <a:xfrm>
            <a:off x="6648450" y="2373510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12" name="Google Shape;312;p24"/>
          <p:cNvSpPr txBox="1"/>
          <p:nvPr/>
        </p:nvSpPr>
        <p:spPr>
          <a:xfrm>
            <a:off x="6724650" y="2373510"/>
            <a:ext cx="4648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Expansion of the dashboard into a full-scale web application.</a:t>
            </a:r>
            <a:endParaRPr/>
          </a:p>
        </p:txBody>
      </p:sp>
      <p:sp>
        <p:nvSpPr>
          <p:cNvPr id="313" name="Google Shape;313;p24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Conclusion &amp; Future Scope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